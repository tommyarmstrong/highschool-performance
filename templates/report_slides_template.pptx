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9525" cap="flat">
              <a:solidFill>
                <a:srgbClr val="9E9E9E"/>
              </a:solidFill>
              <a:prstDash val="solid"/>
              <a:round/>
            </a:ln>
          </a:left>
          <a:right>
            <a:ln w="9525" cap="flat">
              <a:solidFill>
                <a:srgbClr val="9E9E9E"/>
              </a:solidFill>
              <a:prstDash val="solid"/>
              <a:round/>
            </a:ln>
          </a:right>
          <a:top>
            <a:ln w="9525" cap="flat">
              <a:solidFill>
                <a:srgbClr val="9E9E9E"/>
              </a:solidFill>
              <a:prstDash val="solid"/>
              <a:round/>
            </a:ln>
          </a:top>
          <a:bottom>
            <a:ln w="9525" cap="flat">
              <a:solidFill>
                <a:srgbClr val="9E9E9E"/>
              </a:solidFill>
              <a:prstDash val="solid"/>
              <a:round/>
            </a:ln>
          </a:bottom>
          <a:insideH>
            <a:ln w="9525" cap="flat">
              <a:solidFill>
                <a:srgbClr val="9E9E9E"/>
              </a:solidFill>
              <a:prstDash val="solid"/>
              <a:round/>
            </a:ln>
          </a:insideH>
          <a:insideV>
            <a:ln w="9525" cap="flat">
              <a:solidFill>
                <a:srgbClr val="9E9E9E"/>
              </a:solidFill>
              <a:prstDash val="solid"/>
              <a:round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ff" i="off">
        <a:fontRef idx="major">
          <a:srgbClr val="000000"/>
        </a:fontRef>
        <a:srgbClr val="000000"/>
      </a:tcTxStyle>
      <a:tcStyle>
        <a:tcBdr>
          <a:left>
            <a:ln w="9525" cap="flat">
              <a:solidFill>
                <a:srgbClr val="9E9E9E"/>
              </a:solidFill>
              <a:prstDash val="solid"/>
              <a:round/>
            </a:ln>
          </a:left>
          <a:right>
            <a:ln w="9525" cap="flat">
              <a:solidFill>
                <a:srgbClr val="9E9E9E"/>
              </a:solidFill>
              <a:prstDash val="solid"/>
              <a:round/>
            </a:ln>
          </a:right>
          <a:top>
            <a:ln w="9525" cap="flat">
              <a:solidFill>
                <a:srgbClr val="9E9E9E"/>
              </a:solidFill>
              <a:prstDash val="solid"/>
              <a:round/>
            </a:ln>
          </a:top>
          <a:bottom>
            <a:ln w="9525" cap="flat">
              <a:solidFill>
                <a:srgbClr val="9E9E9E"/>
              </a:solidFill>
              <a:prstDash val="solid"/>
              <a:round/>
            </a:ln>
          </a:bottom>
          <a:insideH>
            <a:ln w="9525" cap="flat">
              <a:solidFill>
                <a:srgbClr val="9E9E9E"/>
              </a:solidFill>
              <a:prstDash val="solid"/>
              <a:round/>
            </a:ln>
          </a:insideH>
          <a:insideV>
            <a:ln w="9525" cap="flat">
              <a:solidFill>
                <a:srgbClr val="9E9E9E"/>
              </a:solidFill>
              <a:prstDash val="solid"/>
              <a:round/>
            </a:ln>
          </a:insideV>
        </a:tcBdr>
        <a:fill>
          <a:noFill/>
        </a:fill>
      </a:tcStyle>
    </a:firstCol>
    <a:lastRow>
      <a:tcTxStyle b="off" i="off">
        <a:fontRef idx="major">
          <a:srgbClr val="000000"/>
        </a:fontRef>
        <a:srgbClr val="000000"/>
      </a:tcTxStyle>
      <a:tcStyle>
        <a:tcBdr>
          <a:left>
            <a:ln w="9525" cap="flat">
              <a:solidFill>
                <a:srgbClr val="9E9E9E"/>
              </a:solidFill>
              <a:prstDash val="solid"/>
              <a:round/>
            </a:ln>
          </a:left>
          <a:right>
            <a:ln w="9525" cap="flat">
              <a:solidFill>
                <a:srgbClr val="9E9E9E"/>
              </a:solidFill>
              <a:prstDash val="solid"/>
              <a:round/>
            </a:ln>
          </a:right>
          <a:top>
            <a:ln w="9525" cap="flat">
              <a:solidFill>
                <a:srgbClr val="9E9E9E"/>
              </a:solidFill>
              <a:prstDash val="solid"/>
              <a:round/>
            </a:ln>
          </a:top>
          <a:bottom>
            <a:ln w="9525" cap="flat">
              <a:solidFill>
                <a:srgbClr val="9E9E9E"/>
              </a:solidFill>
              <a:prstDash val="solid"/>
              <a:round/>
            </a:ln>
          </a:bottom>
          <a:insideH>
            <a:ln w="9525" cap="flat">
              <a:solidFill>
                <a:srgbClr val="9E9E9E"/>
              </a:solidFill>
              <a:prstDash val="solid"/>
              <a:round/>
            </a:ln>
          </a:insideH>
          <a:insideV>
            <a:ln w="9525" cap="flat">
              <a:solidFill>
                <a:srgbClr val="9E9E9E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ff" i="off">
        <a:fontRef idx="major">
          <a:srgbClr val="000000"/>
        </a:fontRef>
        <a:srgbClr val="000000"/>
      </a:tcTxStyle>
      <a:tcStyle>
        <a:tcBdr>
          <a:left>
            <a:ln w="9525" cap="flat">
              <a:solidFill>
                <a:srgbClr val="9E9E9E"/>
              </a:solidFill>
              <a:prstDash val="solid"/>
              <a:round/>
            </a:ln>
          </a:left>
          <a:right>
            <a:ln w="9525" cap="flat">
              <a:solidFill>
                <a:srgbClr val="9E9E9E"/>
              </a:solidFill>
              <a:prstDash val="solid"/>
              <a:round/>
            </a:ln>
          </a:right>
          <a:top>
            <a:ln w="9525" cap="flat">
              <a:solidFill>
                <a:srgbClr val="9E9E9E"/>
              </a:solidFill>
              <a:prstDash val="solid"/>
              <a:round/>
            </a:ln>
          </a:top>
          <a:bottom>
            <a:ln w="9525" cap="flat">
              <a:solidFill>
                <a:srgbClr val="9E9E9E"/>
              </a:solidFill>
              <a:prstDash val="solid"/>
              <a:round/>
            </a:ln>
          </a:bottom>
          <a:insideH>
            <a:ln w="9525" cap="flat">
              <a:solidFill>
                <a:srgbClr val="9E9E9E"/>
              </a:solidFill>
              <a:prstDash val="solid"/>
              <a:round/>
            </a:ln>
          </a:insideH>
          <a:insideV>
            <a:ln w="9525" cap="flat">
              <a:solidFill>
                <a:srgbClr val="9E9E9E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8FB"/>
          </a:solidFill>
        </a:fill>
      </a:tcStyle>
    </a:wholeTbl>
    <a:band2H>
      <a:tcTxStyle b="def" i="def"/>
      <a:tcStyle>
        <a:tcBdr/>
        <a:fill>
          <a:solidFill>
            <a:srgbClr val="E8EDFD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 b="def" i="def"/>
      <a:tcStyle>
        <a:tcBdr/>
        <a:fill>
          <a:solidFill>
            <a:srgbClr val="EBEEE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 b="def" i="def"/>
      <a:tcStyle>
        <a:tcBdr/>
        <a:fill>
          <a:solidFill>
            <a:srgbClr val="FCFF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6" name="Shape 11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0;p2" descr="Google Shape;10;p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2225699"/>
            <a:ext cx="9144000" cy="2917810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itle Text"/>
          <p:cNvSpPr txBox="1"/>
          <p:nvPr>
            <p:ph type="title"/>
          </p:nvPr>
        </p:nvSpPr>
        <p:spPr>
          <a:xfrm>
            <a:off x="311699" y="744574"/>
            <a:ext cx="8520602" cy="586801"/>
          </a:xfrm>
          <a:prstGeom prst="rect">
            <a:avLst/>
          </a:prstGeom>
        </p:spPr>
        <p:txBody>
          <a:bodyPr anchor="b"/>
          <a:lstStyle>
            <a:lvl1pPr>
              <a:defRPr sz="3600"/>
            </a:lvl1pPr>
          </a:lstStyle>
          <a:p>
            <a:pPr/>
            <a:r>
              <a:t>Title Text</a:t>
            </a:r>
          </a:p>
        </p:txBody>
      </p:sp>
      <p:sp>
        <p:nvSpPr>
          <p:cNvPr id="14" name="Body Level One…"/>
          <p:cNvSpPr txBox="1"/>
          <p:nvPr>
            <p:ph type="body" sz="quarter" idx="1"/>
          </p:nvPr>
        </p:nvSpPr>
        <p:spPr>
          <a:xfrm>
            <a:off x="311699" y="1427448"/>
            <a:ext cx="8520602" cy="792601"/>
          </a:xfrm>
          <a:prstGeom prst="rect">
            <a:avLst/>
          </a:prstGeom>
        </p:spPr>
        <p:txBody>
          <a:bodyPr/>
          <a:lstStyle>
            <a:lvl1pPr marL="342900" indent="-228600">
              <a:lnSpc>
                <a:spcPct val="100000"/>
              </a:lnSpc>
              <a:buClrTx/>
              <a:buSzTx/>
              <a:buFontTx/>
              <a:buNone/>
              <a:defRPr sz="2200"/>
            </a:lvl1pPr>
            <a:lvl2pPr marL="342900" indent="254000">
              <a:lnSpc>
                <a:spcPct val="100000"/>
              </a:lnSpc>
              <a:buClrTx/>
              <a:buSzTx/>
              <a:buFontTx/>
              <a:buNone/>
              <a:defRPr sz="2200"/>
            </a:lvl2pPr>
            <a:lvl3pPr marL="342900" indent="711200">
              <a:lnSpc>
                <a:spcPct val="100000"/>
              </a:lnSpc>
              <a:buClrTx/>
              <a:buSzTx/>
              <a:buFontTx/>
              <a:buNone/>
              <a:defRPr sz="2200"/>
            </a:lvl3pPr>
            <a:lvl4pPr marL="342900" indent="1168400">
              <a:lnSpc>
                <a:spcPct val="100000"/>
              </a:lnSpc>
              <a:buClrTx/>
              <a:buSzTx/>
              <a:buFontTx/>
              <a:buNone/>
              <a:defRPr sz="2200"/>
            </a:lvl4pPr>
            <a:lvl5pPr marL="342900" indent="1625600">
              <a:lnSpc>
                <a:spcPct val="100000"/>
              </a:lnSpc>
              <a:buClrTx/>
              <a:buSzTx/>
              <a:buFontTx/>
              <a:buNone/>
              <a:defRPr sz="2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/>
          <p:nvPr>
            <p:ph type="title"/>
          </p:nvPr>
        </p:nvSpPr>
        <p:spPr>
          <a:xfrm>
            <a:off x="311699" y="2150849"/>
            <a:ext cx="8520602" cy="841801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pPr/>
            <a:r>
              <a:t>Title Text</a:t>
            </a:r>
          </a:p>
        </p:txBody>
      </p:sp>
      <p:pic>
        <p:nvPicPr>
          <p:cNvPr id="23" name="Google Shape;17;p3" descr="Google Shape;17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4801982"/>
            <a:ext cx="9144000" cy="341526"/>
          </a:xfrm>
          <a:prstGeom prst="rect">
            <a:avLst/>
          </a:prstGeom>
          <a:ln w="12700">
            <a:miter lim="400000"/>
          </a:ln>
        </p:spPr>
      </p:pic>
      <p:sp>
        <p:nvSpPr>
          <p:cNvPr id="2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2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1" name="Body Level One…"/>
          <p:cNvSpPr txBox="1"/>
          <p:nvPr>
            <p:ph type="body" sz="half" idx="1"/>
          </p:nvPr>
        </p:nvSpPr>
        <p:spPr>
          <a:xfrm>
            <a:off x="311699" y="1152475"/>
            <a:ext cx="3999902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2" name="Google Shape;26;p5"/>
          <p:cNvSpPr txBox="1"/>
          <p:nvPr>
            <p:ph type="body" sz="half" idx="21"/>
          </p:nvPr>
        </p:nvSpPr>
        <p:spPr>
          <a:xfrm>
            <a:off x="4832399" y="1152475"/>
            <a:ext cx="3999902" cy="3416400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sz="1400"/>
            </a:pPr>
          </a:p>
        </p:txBody>
      </p:sp>
      <p:pic>
        <p:nvPicPr>
          <p:cNvPr id="43" name="Google Shape;28;p5" descr="Google Shape;28;p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4801982"/>
            <a:ext cx="9144000" cy="341526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le Text"/>
          <p:cNvSpPr txBox="1"/>
          <p:nvPr>
            <p:ph type="title"/>
          </p:nvPr>
        </p:nvSpPr>
        <p:spPr>
          <a:xfrm>
            <a:off x="311699" y="555600"/>
            <a:ext cx="2808001" cy="755700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60" name="Body Level One…"/>
          <p:cNvSpPr txBox="1"/>
          <p:nvPr>
            <p:ph type="body" sz="quarter" idx="1"/>
          </p:nvPr>
        </p:nvSpPr>
        <p:spPr>
          <a:xfrm>
            <a:off x="311699" y="1389599"/>
            <a:ext cx="2808001" cy="31794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61" name="Google Shape;37;p7" descr="Google Shape;37;p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4801982"/>
            <a:ext cx="9144000" cy="341526"/>
          </a:xfrm>
          <a:prstGeom prst="rect">
            <a:avLst/>
          </a:prstGeom>
          <a:ln w="12700">
            <a:miter lim="400000"/>
          </a:ln>
        </p:spPr>
      </p:pic>
      <p:sp>
        <p:nvSpPr>
          <p:cNvPr id="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itle Text"/>
          <p:cNvSpPr txBox="1"/>
          <p:nvPr>
            <p:ph type="title"/>
          </p:nvPr>
        </p:nvSpPr>
        <p:spPr>
          <a:xfrm>
            <a:off x="490250" y="450149"/>
            <a:ext cx="6367801" cy="4090801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pPr/>
            <a:r>
              <a:t>Title Text</a:t>
            </a:r>
          </a:p>
        </p:txBody>
      </p:sp>
      <p:sp>
        <p:nvSpPr>
          <p:cNvPr id="7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42;p9"/>
          <p:cNvSpPr/>
          <p:nvPr/>
        </p:nvSpPr>
        <p:spPr>
          <a:xfrm>
            <a:off x="4572000" y="-125"/>
            <a:ext cx="4572000" cy="5143501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Title Text"/>
          <p:cNvSpPr txBox="1"/>
          <p:nvPr>
            <p:ph type="title"/>
          </p:nvPr>
        </p:nvSpPr>
        <p:spPr>
          <a:xfrm>
            <a:off x="265500" y="1233175"/>
            <a:ext cx="4045200" cy="1482301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pPr/>
            <a:r>
              <a:t>Title Text</a:t>
            </a:r>
          </a:p>
        </p:txBody>
      </p:sp>
      <p:sp>
        <p:nvSpPr>
          <p:cNvPr id="79" name="Body Level One…"/>
          <p:cNvSpPr txBox="1"/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342900" indent="-2286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342900" indent="2540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342900" indent="7112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342900" indent="11684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342900" indent="16256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0" name="Google Shape;45;p9"/>
          <p:cNvSpPr txBox="1"/>
          <p:nvPr>
            <p:ph type="body" sz="half" idx="21"/>
          </p:nvPr>
        </p:nvSpPr>
        <p:spPr>
          <a:xfrm>
            <a:off x="4939500" y="724074"/>
            <a:ext cx="3837000" cy="3695102"/>
          </a:xfrm>
          <a:prstGeom prst="rect">
            <a:avLst/>
          </a:prstGeom>
        </p:spPr>
        <p:txBody>
          <a:bodyPr anchor="ctr"/>
          <a:lstStyle/>
          <a:p>
            <a:pPr/>
          </a:p>
        </p:txBody>
      </p:sp>
      <p:pic>
        <p:nvPicPr>
          <p:cNvPr id="81" name="Google Shape;47;p9" descr="Google Shape;47;p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4801982"/>
            <a:ext cx="9144000" cy="341526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Body Level One…"/>
          <p:cNvSpPr txBox="1"/>
          <p:nvPr>
            <p:ph type="body" sz="quarter" idx="1"/>
          </p:nvPr>
        </p:nvSpPr>
        <p:spPr>
          <a:xfrm>
            <a:off x="311699" y="4230575"/>
            <a:ext cx="5998802" cy="605101"/>
          </a:xfrm>
          <a:prstGeom prst="rect">
            <a:avLst/>
          </a:prstGeom>
        </p:spPr>
        <p:txBody>
          <a:bodyPr anchor="ctr"/>
          <a:lstStyle>
            <a:lvl1pPr marL="228600" indent="0">
              <a:lnSpc>
                <a:spcPct val="100000"/>
              </a:lnSpc>
              <a:buClrTx/>
              <a:buSzTx/>
              <a:buFontTx/>
              <a:buNone/>
            </a:lvl1pPr>
            <a:lvl2pPr>
              <a:lnSpc>
                <a:spcPct val="100000"/>
              </a:lnSpc>
              <a:buClrTx/>
              <a:buFontTx/>
            </a:lvl2pPr>
            <a:lvl3pPr>
              <a:lnSpc>
                <a:spcPct val="100000"/>
              </a:lnSpc>
              <a:buClrTx/>
              <a:buFontTx/>
            </a:lvl3pPr>
            <a:lvl4pPr>
              <a:lnSpc>
                <a:spcPct val="100000"/>
              </a:lnSpc>
              <a:buClrTx/>
              <a:buFontTx/>
            </a:lvl4pPr>
            <a:lvl5pPr>
              <a:lnSpc>
                <a:spcPct val="100000"/>
              </a:lnSpc>
              <a:buClrTx/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90" name="Google Shape;51;p10" descr="Google Shape;51;p1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4801982"/>
            <a:ext cx="9144000" cy="341526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xx%"/>
          <p:cNvSpPr txBox="1"/>
          <p:nvPr>
            <p:ph type="title" hasCustomPrompt="1"/>
          </p:nvPr>
        </p:nvSpPr>
        <p:spPr>
          <a:xfrm>
            <a:off x="311699" y="1106125"/>
            <a:ext cx="8520602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pPr/>
            <a:r>
              <a:t>xx%</a:t>
            </a:r>
          </a:p>
        </p:txBody>
      </p:sp>
      <p:sp>
        <p:nvSpPr>
          <p:cNvPr id="99" name="Body Level One…"/>
          <p:cNvSpPr txBox="1"/>
          <p:nvPr>
            <p:ph type="body" sz="half" idx="1"/>
          </p:nvPr>
        </p:nvSpPr>
        <p:spPr>
          <a:xfrm>
            <a:off x="311699" y="3152225"/>
            <a:ext cx="8520602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00" name="Google Shape;56;p11" descr="Google Shape;56;p1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4801982"/>
            <a:ext cx="9144000" cy="341526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59;p12" descr="Google Shape;59;p1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4801982"/>
            <a:ext cx="9144000" cy="341526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311699" y="445025"/>
            <a:ext cx="8520602" cy="57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311699" y="1152475"/>
            <a:ext cx="8520602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4" name="Google Shape;22;p4" descr="Google Shape;22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4801982"/>
            <a:ext cx="9144000" cy="341526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8684345" y="4700819"/>
            <a:ext cx="336813" cy="318396"/>
          </a:xfrm>
          <a:prstGeom prst="rect">
            <a:avLst/>
          </a:prstGeom>
          <a:ln w="12700">
            <a:miter lim="400000"/>
          </a:ln>
        </p:spPr>
        <p:txBody>
          <a:bodyPr wrap="none" lIns="91424" tIns="91424" rIns="91424" bIns="91424" anchor="ctr">
            <a:normAutofit fontScale="100000" lnSpcReduction="0"/>
          </a:bodyPr>
          <a:lstStyle>
            <a:lvl1pPr algn="r">
              <a:defRPr sz="1000">
                <a:solidFill>
                  <a:schemeClr val="accent2">
                    <a:lumOff val="21764"/>
                  </a:schemeClr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rgbClr val="1155CC"/>
          </a:solidFill>
          <a:uFillTx/>
          <a:latin typeface="Montserrat"/>
          <a:ea typeface="Montserrat"/>
          <a:cs typeface="Montserrat"/>
          <a:sym typeface="Montserrat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rgbClr val="1155CC"/>
          </a:solidFill>
          <a:uFillTx/>
          <a:latin typeface="Montserrat"/>
          <a:ea typeface="Montserrat"/>
          <a:cs typeface="Montserrat"/>
          <a:sym typeface="Montserrat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rgbClr val="1155CC"/>
          </a:solidFill>
          <a:uFillTx/>
          <a:latin typeface="Montserrat"/>
          <a:ea typeface="Montserrat"/>
          <a:cs typeface="Montserrat"/>
          <a:sym typeface="Montserrat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rgbClr val="1155CC"/>
          </a:solidFill>
          <a:uFillTx/>
          <a:latin typeface="Montserrat"/>
          <a:ea typeface="Montserrat"/>
          <a:cs typeface="Montserrat"/>
          <a:sym typeface="Montserrat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rgbClr val="1155CC"/>
          </a:solidFill>
          <a:uFillTx/>
          <a:latin typeface="Montserrat"/>
          <a:ea typeface="Montserrat"/>
          <a:cs typeface="Montserrat"/>
          <a:sym typeface="Montserrat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rgbClr val="1155CC"/>
          </a:solidFill>
          <a:uFillTx/>
          <a:latin typeface="Montserrat"/>
          <a:ea typeface="Montserrat"/>
          <a:cs typeface="Montserrat"/>
          <a:sym typeface="Montserrat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rgbClr val="1155CC"/>
          </a:solidFill>
          <a:uFillTx/>
          <a:latin typeface="Montserrat"/>
          <a:ea typeface="Montserrat"/>
          <a:cs typeface="Montserrat"/>
          <a:sym typeface="Montserrat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rgbClr val="1155CC"/>
          </a:solidFill>
          <a:uFillTx/>
          <a:latin typeface="Montserrat"/>
          <a:ea typeface="Montserrat"/>
          <a:cs typeface="Montserrat"/>
          <a:sym typeface="Montserrat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rgbClr val="1155CC"/>
          </a:solidFill>
          <a:uFillTx/>
          <a:latin typeface="Montserrat"/>
          <a:ea typeface="Montserrat"/>
          <a:cs typeface="Montserrat"/>
          <a:sym typeface="Montserrat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Helvetica"/>
        <a:buChar char="●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Montserrat"/>
          <a:ea typeface="Montserrat"/>
          <a:cs typeface="Montserrat"/>
          <a:sym typeface="Montserrat"/>
        </a:defRPr>
      </a:lvl1pPr>
      <a:lvl2pPr marL="1005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Helvetica"/>
        <a:buChar char="○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Montserrat"/>
          <a:ea typeface="Montserrat"/>
          <a:cs typeface="Montserrat"/>
          <a:sym typeface="Montserrat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Helvetica"/>
        <a:buChar char="■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Montserrat"/>
          <a:ea typeface="Montserrat"/>
          <a:cs typeface="Montserrat"/>
          <a:sym typeface="Montserrat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Helvetica"/>
        <a:buChar char="●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Montserrat"/>
          <a:ea typeface="Montserrat"/>
          <a:cs typeface="Montserrat"/>
          <a:sym typeface="Montserrat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Helvetica"/>
        <a:buChar char="○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Montserrat"/>
          <a:ea typeface="Montserrat"/>
          <a:cs typeface="Montserrat"/>
          <a:sym typeface="Montserrat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Helvetica"/>
        <a:buChar char="■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Montserrat"/>
          <a:ea typeface="Montserrat"/>
          <a:cs typeface="Montserrat"/>
          <a:sym typeface="Montserrat"/>
        </a:defRPr>
      </a:lvl6pPr>
      <a:lvl7pPr marL="3291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Helvetica"/>
        <a:buChar char="●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Montserrat"/>
          <a:ea typeface="Montserrat"/>
          <a:cs typeface="Montserrat"/>
          <a:sym typeface="Montserrat"/>
        </a:defRPr>
      </a:lvl7pPr>
      <a:lvl8pPr marL="3748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Helvetica"/>
        <a:buChar char="○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Montserrat"/>
          <a:ea typeface="Montserrat"/>
          <a:cs typeface="Montserrat"/>
          <a:sym typeface="Montserrat"/>
        </a:defRPr>
      </a:lvl8pPr>
      <a:lvl9pPr marL="4205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Helvetica"/>
        <a:buChar char="■"/>
        <a:tabLst/>
        <a:defRPr b="0" baseline="0" cap="none" i="0" spc="0" strike="noStrike" sz="1800" u="none">
          <a:solidFill>
            <a:schemeClr val="accent2">
              <a:lumOff val="21764"/>
            </a:schemeClr>
          </a:solidFill>
          <a:uFillTx/>
          <a:latin typeface="Montserrat"/>
          <a:ea typeface="Montserrat"/>
          <a:cs typeface="Montserrat"/>
          <a:sym typeface="Montserrat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ommyarmstrong/highschool-performance" TargetMode="External"/><Relationship Id="rId3" Type="http://schemas.openxmlformats.org/officeDocument/2006/relationships/hyperlink" Target="https://raw.githubusercontent.com/tommyarmstrong/highschool-performance/refs/heads/main/LICENSE" TargetMode="Externa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64;p13"/>
          <p:cNvSpPr txBox="1"/>
          <p:nvPr>
            <p:ph type="ctrTitle"/>
          </p:nvPr>
        </p:nvSpPr>
        <p:spPr>
          <a:xfrm>
            <a:off x="311699" y="744574"/>
            <a:ext cx="8520602" cy="586801"/>
          </a:xfrm>
          <a:prstGeom prst="rect">
            <a:avLst/>
          </a:prstGeom>
        </p:spPr>
        <p:txBody>
          <a:bodyPr/>
          <a:lstStyle>
            <a:lvl1pPr defTabSz="758951">
              <a:defRPr sz="2656"/>
            </a:lvl1pPr>
          </a:lstStyle>
          <a:p>
            <a:pPr/>
            <a:r>
              <a:t>Haringey Schools</a:t>
            </a:r>
          </a:p>
        </p:txBody>
      </p:sp>
      <p:sp>
        <p:nvSpPr>
          <p:cNvPr id="119" name="Google Shape;65;p13"/>
          <p:cNvSpPr txBox="1"/>
          <p:nvPr>
            <p:ph type="subTitle" sz="quarter" idx="1"/>
          </p:nvPr>
        </p:nvSpPr>
        <p:spPr>
          <a:xfrm>
            <a:off x="311699" y="1427448"/>
            <a:ext cx="8520602" cy="792601"/>
          </a:xfrm>
          <a:prstGeom prst="rect">
            <a:avLst/>
          </a:prstGeom>
        </p:spPr>
        <p:txBody>
          <a:bodyPr/>
          <a:lstStyle/>
          <a:p>
            <a:pPr marL="0" indent="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70;p14"/>
          <p:cNvSpPr txBox="1"/>
          <p:nvPr>
            <p:ph type="title"/>
          </p:nvPr>
        </p:nvSpPr>
        <p:spPr>
          <a:xfrm>
            <a:off x="311699" y="2150849"/>
            <a:ext cx="8520602" cy="841801"/>
          </a:xfrm>
          <a:prstGeom prst="rect">
            <a:avLst/>
          </a:prstGeom>
        </p:spPr>
        <p:txBody>
          <a:bodyPr/>
          <a:lstStyle/>
          <a:p>
            <a:pPr/>
            <a:r>
              <a:t>Attainment Results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81;p16"/>
          <p:cNvSpPr txBox="1"/>
          <p:nvPr>
            <p:ph type="title"/>
          </p:nvPr>
        </p:nvSpPr>
        <p:spPr>
          <a:xfrm>
            <a:off x="311699" y="445025"/>
            <a:ext cx="8520602" cy="572701"/>
          </a:xfrm>
          <a:prstGeom prst="rect">
            <a:avLst/>
          </a:prstGeom>
        </p:spPr>
        <p:txBody>
          <a:bodyPr/>
          <a:lstStyle/>
          <a:p>
            <a:pPr/>
            <a:r>
              <a:t>Data Sources</a:t>
            </a:r>
          </a:p>
        </p:txBody>
      </p:sp>
      <p:sp>
        <p:nvSpPr>
          <p:cNvPr id="124" name="Google Shape;82;p16"/>
          <p:cNvSpPr txBox="1"/>
          <p:nvPr>
            <p:ph type="body" idx="1"/>
          </p:nvPr>
        </p:nvSpPr>
        <p:spPr>
          <a:xfrm>
            <a:off x="311699" y="1152475"/>
            <a:ext cx="8520602" cy="341640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1200"/>
              </a:spcBef>
              <a:buSzTx/>
              <a:buNone/>
              <a:defRPr sz="1400">
                <a:solidFill>
                  <a:srgbClr val="000000"/>
                </a:solidFill>
              </a:defRPr>
            </a:pPr>
            <a:r>
              <a:t>Figures come from published Department for Education statistics, except catchment distances.</a:t>
            </a:r>
          </a:p>
          <a:p>
            <a:pPr indent="-311150">
              <a:spcBef>
                <a:spcPts val="1200"/>
              </a:spcBef>
              <a:buClr>
                <a:srgbClr val="000000"/>
              </a:buClr>
              <a:buSzPts val="1300"/>
              <a:defRPr sz="1300">
                <a:solidFill>
                  <a:srgbClr val="000000"/>
                </a:solidFill>
              </a:defRPr>
            </a:pPr>
            <a:r>
              <a:t>GCSE results. Key stage 4 school results: Attainment 8 and Progress 8, overall and by prior attainment and sex (2022/23–2025/26).</a:t>
            </a:r>
          </a:p>
          <a:p>
            <a:pPr indent="-311150">
              <a:spcBef>
                <a:spcPts val="1000"/>
              </a:spcBef>
              <a:buClr>
                <a:srgbClr val="000000"/>
              </a:buClr>
              <a:buSzPts val="1300"/>
              <a:defRPr sz="1300">
                <a:solidFill>
                  <a:srgbClr val="000000"/>
                </a:solidFill>
              </a:defRPr>
            </a:pPr>
            <a:r>
              <a:t>Prior attainment. Key stage 2 scores for the same pupils, used as the starting point for Progress 8.</a:t>
            </a:r>
          </a:p>
          <a:p>
            <a:pPr indent="-311150">
              <a:spcBef>
                <a:spcPts val="1000"/>
              </a:spcBef>
              <a:buClr>
                <a:srgbClr val="000000"/>
              </a:buClr>
              <a:buSzPts val="1300"/>
              <a:defRPr sz="1300">
                <a:solidFill>
                  <a:srgbClr val="000000"/>
                </a:solidFill>
              </a:defRPr>
            </a:pPr>
            <a:r>
              <a:t>Applications and offers. Secondary preferences and places offered, including first-choice offers and pupils allocated a school they did not choose.</a:t>
            </a:r>
          </a:p>
          <a:p>
            <a:pPr indent="-311150">
              <a:spcBef>
                <a:spcPts val="1000"/>
              </a:spcBef>
              <a:buClr>
                <a:srgbClr val="000000"/>
              </a:buClr>
              <a:buSzPts val="1300"/>
              <a:defRPr sz="1300">
                <a:solidFill>
                  <a:srgbClr val="000000"/>
                </a:solidFill>
              </a:defRPr>
            </a:pPr>
            <a:r>
              <a:t>Year 7 numbers. School census (</a:t>
            </a:r>
            <a:r>
              <a:rPr i="1"/>
              <a:t>Schools, pupils and their characteristics</a:t>
            </a:r>
            <a:r>
              <a:t>): Year 7 roll by sex, 2020/21–2025/26.</a:t>
            </a:r>
          </a:p>
          <a:p>
            <a:pPr indent="-311150">
              <a:spcBef>
                <a:spcPts val="1200"/>
              </a:spcBef>
              <a:buClr>
                <a:srgbClr val="000000"/>
              </a:buClr>
              <a:buSzPts val="1300"/>
              <a:defRPr sz="1300">
                <a:solidFill>
                  <a:srgbClr val="000000"/>
                </a:solidFill>
              </a:defRPr>
            </a:pPr>
            <a:r>
              <a:t>Catchment distances. Last-place cut-offs published by the local authority, mapped from each school’s address.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75;p15"/>
          <p:cNvSpPr txBox="1"/>
          <p:nvPr>
            <p:ph type="title"/>
          </p:nvPr>
        </p:nvSpPr>
        <p:spPr>
          <a:xfrm>
            <a:off x="311699" y="445025"/>
            <a:ext cx="8520602" cy="572701"/>
          </a:xfrm>
          <a:prstGeom prst="rect">
            <a:avLst/>
          </a:prstGeom>
        </p:spPr>
        <p:txBody>
          <a:bodyPr/>
          <a:lstStyle/>
          <a:p>
            <a:pPr/>
            <a:r>
              <a:t>Performance 8 Band Definitions</a:t>
            </a:r>
          </a:p>
        </p:txBody>
      </p:sp>
      <p:graphicFrame>
        <p:nvGraphicFramePr>
          <p:cNvPr id="127" name="Google Shape;76;p15"/>
          <p:cNvGraphicFramePr/>
          <p:nvPr/>
        </p:nvGraphicFramePr>
        <p:xfrm>
          <a:off x="610975" y="1619250"/>
          <a:ext cx="7880625" cy="228600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877000"/>
                <a:gridCol w="2006975"/>
                <a:gridCol w="2049024"/>
                <a:gridCol w="1947624"/>
              </a:tblGrid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/>
                        <a:t>Performance 8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/>
                        <a:t>Confidence intervals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/>
                        <a:t>Band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/>
                        <a:t>Percent of schools</a:t>
                      </a:r>
                    </a:p>
                  </a:txBody>
                  <a:tcPr marL="91425" marR="91425" marT="91425" marB="91425" anchor="t" anchorCtr="0" horzOverflow="overflow"/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Above 0.5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 All above zero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1200"/>
                        </a:spcBef>
                        <a:defRPr sz="1800"/>
                      </a:pPr>
                      <a:r>
                        <a:rPr sz="1400"/>
                        <a:t>Well above average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1200"/>
                        </a:spcBef>
                        <a:defRPr sz="1800"/>
                      </a:pPr>
                      <a:r>
                        <a:rPr sz="1400"/>
                        <a:t>16%</a:t>
                      </a:r>
                    </a:p>
                  </a:txBody>
                  <a:tcPr marL="91425" marR="91425" marT="91425" marB="91425" anchor="t" anchorCtr="0" horzOverflow="overflow"/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Above 0.0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All above zero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1200"/>
                        </a:spcBef>
                        <a:defRPr sz="1800"/>
                      </a:pPr>
                      <a:r>
                        <a:rPr sz="1400"/>
                        <a:t>Above average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1200"/>
                        </a:spcBef>
                        <a:defRPr sz="1800"/>
                      </a:pPr>
                      <a:r>
                        <a:rPr sz="1400"/>
                        <a:t>18%</a:t>
                      </a:r>
                    </a:p>
                  </a:txBody>
                  <a:tcPr marL="91425" marR="91425" marT="91425" marB="91425" anchor="t" anchorCtr="0" horzOverflow="overflow"/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Above or below zero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Crossing zero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1200"/>
                        </a:spcBef>
                        <a:defRPr sz="1800"/>
                      </a:pPr>
                      <a:r>
                        <a:rPr sz="1400"/>
                        <a:t>Average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1200"/>
                        </a:spcBef>
                        <a:defRPr sz="1800"/>
                      </a:pPr>
                      <a:r>
                        <a:rPr sz="1400"/>
                        <a:t>33%</a:t>
                      </a:r>
                    </a:p>
                  </a:txBody>
                  <a:tcPr marL="91425" marR="91425" marT="91425" marB="91425" anchor="t" anchorCtr="0" horzOverflow="overflow"/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Below zero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All below zero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1200"/>
                        </a:spcBef>
                        <a:defRPr sz="1800"/>
                      </a:pPr>
                      <a:r>
                        <a:rPr sz="1400"/>
                        <a:t>Below average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1200"/>
                        </a:spcBef>
                        <a:defRPr sz="1800"/>
                      </a:pPr>
                      <a:r>
                        <a:rPr sz="1400"/>
                        <a:t>17%</a:t>
                      </a:r>
                    </a:p>
                  </a:txBody>
                  <a:tcPr marL="91425" marR="91425" marT="91425" marB="91425" anchor="t" anchorCtr="0" horzOverflow="overflow"/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Below zero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All below zero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1200"/>
                        </a:spcBef>
                        <a:defRPr sz="1800"/>
                      </a:pPr>
                      <a:r>
                        <a:rPr sz="1400"/>
                        <a:t>Well below average</a:t>
                      </a:r>
                    </a:p>
                  </a:txBody>
                  <a:tcPr marL="91425" marR="91425" marT="91425" marB="91425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1200"/>
                        </a:spcBef>
                        <a:defRPr sz="1800"/>
                      </a:pPr>
                      <a:r>
                        <a:rPr sz="1400"/>
                        <a:t>16%</a:t>
                      </a:r>
                    </a:p>
                  </a:txBody>
                  <a:tcPr marL="91425" marR="91425" marT="91425" marB="91425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87;p17"/>
          <p:cNvSpPr txBox="1"/>
          <p:nvPr>
            <p:ph type="title"/>
          </p:nvPr>
        </p:nvSpPr>
        <p:spPr>
          <a:xfrm>
            <a:off x="311699" y="445025"/>
            <a:ext cx="8520602" cy="572701"/>
          </a:xfrm>
          <a:prstGeom prst="rect">
            <a:avLst/>
          </a:prstGeom>
        </p:spPr>
        <p:txBody>
          <a:bodyPr/>
          <a:lstStyle/>
          <a:p>
            <a:pPr/>
            <a:r>
              <a:t>Project and License</a:t>
            </a:r>
          </a:p>
        </p:txBody>
      </p:sp>
      <p:sp>
        <p:nvSpPr>
          <p:cNvPr id="130" name="Google Shape;88;p17"/>
          <p:cNvSpPr txBox="1"/>
          <p:nvPr>
            <p:ph type="body" idx="1"/>
          </p:nvPr>
        </p:nvSpPr>
        <p:spPr>
          <a:xfrm>
            <a:off x="311699" y="1152475"/>
            <a:ext cx="8520602" cy="341640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1400"/>
            </a:pPr>
            <a:r>
              <a:t>This report is generated by the “highschool-performance” project: </a:t>
            </a:r>
            <a:r>
              <a:rPr u="sng">
                <a:solidFill>
                  <a:schemeClr val="accent5"/>
                </a:solidFill>
                <a:uFill>
                  <a:solidFill>
                    <a:schemeClr val="accent5"/>
                  </a:solidFill>
                </a:uFill>
                <a:hlinkClick r:id="rId2" invalidUrl="" action="" tgtFrame="" tooltip="" history="1" highlightClick="0" endSnd="0"/>
              </a:rPr>
              <a:t>https://github.com/tommyarmstrong/highschool-performance</a:t>
            </a:r>
            <a:r>
              <a:t>.</a:t>
            </a:r>
          </a:p>
          <a:p>
            <a:pPr marL="0" indent="0">
              <a:spcBef>
                <a:spcPts val="1000"/>
              </a:spcBef>
              <a:buSzTx/>
              <a:buNone/>
              <a:defRPr sz="1400"/>
            </a:pPr>
            <a:r>
              <a:t>The project uses an MIT license: </a:t>
            </a:r>
            <a:r>
              <a:rPr u="sng">
                <a:solidFill>
                  <a:schemeClr val="accent5"/>
                </a:solidFill>
                <a:uFill>
                  <a:solidFill>
                    <a:schemeClr val="accent5"/>
                  </a:solidFill>
                </a:uFill>
                <a:hlinkClick r:id="rId3" invalidUrl="" action="" tgtFrame="" tooltip="" history="1" highlightClick="0" endSnd="0"/>
              </a:rPr>
              <a:t>https://raw.githubusercontent.com/tommyarmstrong/highschool-performance/refs/heads/main/LICENSE</a:t>
            </a:r>
            <a:r>
              <a:t>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