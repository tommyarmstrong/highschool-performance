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25700"/>
            <a:ext cx="9144000" cy="29178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44575"/>
            <a:ext cx="8520600" cy="58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3600"/>
              <a:buNone/>
              <a:defRPr sz="3600">
                <a:solidFill>
                  <a:srgbClr val="1155C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42744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" name="Google Shape;3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" name="Google Shape;5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1983"/>
            <a:ext cx="9144000" cy="3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400"/>
              <a:buNone/>
              <a:defRPr sz="2400">
                <a:solidFill>
                  <a:srgbClr val="1155C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ommyarmstrong/highschool-performance" TargetMode="External"/><Relationship Id="rId3" Type="http://schemas.openxmlformats.org/officeDocument/2006/relationships/hyperlink" Target="https://opensource.org/licenses/MIT" TargetMode="Externa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Haringey Schools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>
              <a:buNone/>
              <a:defRPr sz="1600"/>
            </a:pPr>
            <a:r>
              <a:rPr sz="1600"/>
              <a:t>The following schools are included in the analysis: </a:t>
            </a:r>
            <a:endParaRPr sz="16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Alexandra Park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Fortismere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Gladesmore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Greig City Academy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Heartlands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Highgate Wood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Hornsey School for Girls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Park View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Skinners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/>
              <a:t>St Thomas More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8 Band Definitions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1700" y="1474925"/>
          <a:ext cx="8520600" cy="1755648"/>
        </p:xfrm>
        <a:graphic>
          <a:graphicData uri="http://schemas.openxmlformats.org/drawingml/2006/table">
            <a:tbl>
              <a:tblPr firstRow="1" bandRow="1"/>
              <a:tblGrid>
                <a:gridCol w="2130150"/>
                <a:gridCol w="2130150"/>
                <a:gridCol w="2130150"/>
                <a:gridCol w="213015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Performance 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Confidence Intervals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Band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Percent of Schools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Above 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 All above zero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Well above 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16%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Above 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 All above zero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Above 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18%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Above or below 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Crossing zero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33%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Below 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 All below zero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Below 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17%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Below -0.5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 All below zero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Well below 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16%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 Trends 2023 - 2026</a:t>
            </a:r>
          </a:p>
        </p:txBody>
      </p:sp>
      <p:pic>
        <p:nvPicPr>
          <p:cNvPr id="3" name="Picture 2" descr="attainment8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45" y="1063445"/>
            <a:ext cx="7323709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 (2024) strongly correlated with Key Stage 2 (2019) scores</a:t>
            </a:r>
          </a:p>
        </p:txBody>
      </p:sp>
      <p:pic>
        <p:nvPicPr>
          <p:cNvPr id="3" name="Picture 2" descr="a8_ks2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78" y="1063445"/>
            <a:ext cx="5170243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8 (2024) much less correlated with Key Stage 2 (2019)</a:t>
            </a:r>
          </a:p>
        </p:txBody>
      </p:sp>
      <p:pic>
        <p:nvPicPr>
          <p:cNvPr id="3" name="Picture 2" descr="p8_ks2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6" y="1063445"/>
            <a:ext cx="5175507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DfE Groups KS2 Scores into Low, Middle and High Bands</a:t>
            </a:r>
          </a:p>
        </p:txBody>
      </p:sp>
      <p:pic>
        <p:nvPicPr>
          <p:cNvPr id="3" name="Picture 2" descr="ks2_b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418" y="1063445"/>
            <a:ext cx="5735163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8, adjusted for prior KS2, was more aligned</a:t>
            </a:r>
          </a:p>
        </p:txBody>
      </p:sp>
      <p:pic>
        <p:nvPicPr>
          <p:cNvPr id="3" name="Picture 2" descr="a8_b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171" y="1063445"/>
            <a:ext cx="500765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8, adjusted for prior KS2, with confidence intervals</a:t>
            </a:r>
          </a:p>
        </p:txBody>
      </p:sp>
      <p:pic>
        <p:nvPicPr>
          <p:cNvPr id="3" name="Picture 2" descr="p8_by_prior_attai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96" y="1063445"/>
            <a:ext cx="459160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8, adjusted for prior KS2, with confidence intervals</a:t>
            </a:r>
          </a:p>
        </p:txBody>
      </p:sp>
      <p:pic>
        <p:nvPicPr>
          <p:cNvPr id="3" name="Picture 2" descr="p8_all_years_by_prior_attai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96" y="1063445"/>
            <a:ext cx="459160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Schools with statistically significant P8 impact (2024)</a:t>
            </a:r>
          </a:p>
        </p:txBody>
      </p:sp>
      <p:pic>
        <p:nvPicPr>
          <p:cNvPr id="3" name="Picture 2" descr="p8_ks2_ban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515634"/>
            <a:ext cx="8520600" cy="27184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 by sex</a:t>
            </a:r>
          </a:p>
        </p:txBody>
      </p:sp>
      <p:pic>
        <p:nvPicPr>
          <p:cNvPr id="3" name="Picture 2" descr="a8_by_sex_AP-F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71" y="1063445"/>
            <a:ext cx="5693057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 by sex</a:t>
            </a:r>
          </a:p>
        </p:txBody>
      </p:sp>
      <p:pic>
        <p:nvPicPr>
          <p:cNvPr id="3" name="Picture 2" descr="a8_by_sex_G-H-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71" y="1063445"/>
            <a:ext cx="5693057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Attainment 8 by sex</a:t>
            </a:r>
          </a:p>
        </p:txBody>
      </p:sp>
      <p:pic>
        <p:nvPicPr>
          <p:cNvPr id="3" name="Picture 2" descr="a8_by_sex_PV-S-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71" y="1063445"/>
            <a:ext cx="5693057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8 by sex</a:t>
            </a:r>
          </a:p>
        </p:txBody>
      </p:sp>
      <p:pic>
        <p:nvPicPr>
          <p:cNvPr id="3" name="Picture 2" descr="p8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784" y="1063445"/>
            <a:ext cx="4612431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Boys Progress 8 with Confidence Intervals (95%)</a:t>
            </a:r>
          </a:p>
        </p:txBody>
      </p:sp>
      <p:pic>
        <p:nvPicPr>
          <p:cNvPr id="3" name="Picture 2" descr="p8_bo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6" y="1063445"/>
            <a:ext cx="621060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Girls Progress 8 with Confidence Intervals (95%)</a:t>
            </a:r>
          </a:p>
        </p:txBody>
      </p:sp>
      <p:pic>
        <p:nvPicPr>
          <p:cNvPr id="3" name="Picture 2" descr="p8_gir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6" y="1063445"/>
            <a:ext cx="621060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Applications Trend</a:t>
            </a:r>
          </a:p>
        </p:txBody>
      </p:sp>
      <p:pic>
        <p:nvPicPr>
          <p:cNvPr id="3" name="Picture 2" descr="total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6" y="1063445"/>
            <a:ext cx="6779488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Choice Applications Trend</a:t>
            </a:r>
          </a:p>
        </p:txBody>
      </p:sp>
      <p:pic>
        <p:nvPicPr>
          <p:cNvPr id="3" name="Picture 2" descr="first_choice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79" y="1063445"/>
            <a:ext cx="6781241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Applications, Offers and Year 7 Rolls</a:t>
            </a:r>
          </a:p>
        </p:txBody>
      </p:sp>
      <p:pic>
        <p:nvPicPr>
          <p:cNvPr id="3" name="Picture 2" descr="applications_and_rolls_AP-F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19" y="1063445"/>
            <a:ext cx="4668562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Applications, Offers and Year 7 Rolls</a:t>
            </a:r>
          </a:p>
        </p:txBody>
      </p:sp>
      <p:pic>
        <p:nvPicPr>
          <p:cNvPr id="3" name="Picture 2" descr="applications_and_rolls_G-H-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19" y="1063445"/>
            <a:ext cx="4668562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Applications, Offers and Year 7 Rolls'</a:t>
            </a:r>
          </a:p>
        </p:txBody>
      </p:sp>
      <p:pic>
        <p:nvPicPr>
          <p:cNvPr id="3" name="Picture 2" descr="applications_and_rolls_Ho-PV-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19" y="1063445"/>
            <a:ext cx="4668562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Catchment Areas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Catchment Areas</a:t>
            </a:r>
          </a:p>
        </p:txBody>
      </p:sp>
      <p:pic>
        <p:nvPicPr>
          <p:cNvPr id="3" name="Picture 2" descr="all_schools_catchments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Alexandra Park Catchment</a:t>
            </a:r>
          </a:p>
        </p:txBody>
      </p:sp>
      <p:pic>
        <p:nvPicPr>
          <p:cNvPr id="3" name="Picture 2" descr="Alexandra_Park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Fortismere Catchment</a:t>
            </a:r>
          </a:p>
        </p:txBody>
      </p:sp>
      <p:pic>
        <p:nvPicPr>
          <p:cNvPr id="3" name="Picture 2" descr="Fortismere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Greig Catchment</a:t>
            </a:r>
          </a:p>
        </p:txBody>
      </p:sp>
      <p:pic>
        <p:nvPicPr>
          <p:cNvPr id="3" name="Picture 2" descr="Greig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Heartlands Catchment</a:t>
            </a:r>
          </a:p>
        </p:txBody>
      </p:sp>
      <p:pic>
        <p:nvPicPr>
          <p:cNvPr id="3" name="Picture 2" descr="Heartlands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Highgate Wood Catchment</a:t>
            </a:r>
          </a:p>
        </p:txBody>
      </p:sp>
      <p:pic>
        <p:nvPicPr>
          <p:cNvPr id="3" name="Picture 2" descr="Highgate_Wood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42" y="1063445"/>
            <a:ext cx="5918316" cy="36228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>
              <a:buNone/>
              <a:defRPr sz="1600"/>
            </a:pPr>
            <a:r>
              <a:rPr sz="1600"/>
              <a:t>Figures come from published Department for Education statistics, except catchment distances.</a:t>
            </a:r>
            <a:endParaRPr sz="16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 b="1"/>
              <a:t>GCSE results: </a:t>
            </a:r>
            <a:r>
              <a:rPr sz="1400"/>
              <a:t>Key stage 4 school results: Attainment 8 and Progress 8, overall and by prior attainment and sex (2022/23–2025/26).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 b="1"/>
              <a:t>Prior attainment: </a:t>
            </a:r>
            <a:r>
              <a:rPr sz="1400"/>
              <a:t>Key stage 2 scores for the same pupils, used as the starting point for Progress 8.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 b="1"/>
              <a:t>Applications and offers: </a:t>
            </a:r>
            <a:r>
              <a:rPr sz="1400"/>
              <a:t>Applications and offers. Secondary preferences and places offered, including first-choice offers and pupils allocated a school they did not choose.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 b="1"/>
              <a:t>Year 7 numbers: </a:t>
            </a:r>
            <a:r>
              <a:rPr sz="1400"/>
              <a:t>School census (Schools, pupils and their characteristics): Year 7 roll by sex, 2020/21–2025/26.</a:t>
            </a:r>
            <a:endParaRPr sz="1400"/>
          </a:p>
          <a:p>
            <a:pPr marL="457200" indent="-342900">
              <a:buSzPts val="1400"/>
              <a:buFont typeface="Arial"/>
              <a:buChar char="●"/>
              <a:defRPr sz="1400"/>
            </a:pPr>
            <a:r>
              <a:rPr sz="1400" b="1"/>
              <a:t>Catchment distances</a:t>
            </a:r>
            <a:r>
              <a:rPr sz="1400"/>
              <a:t>Catchment distances. Last-place cut-offs published by the local authority, mapped from each school’s address.</a:t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and License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>
              <a:buNone/>
              <a:defRPr sz="1400"/>
            </a:pPr>
            <a:r>
              <a:rPr sz="1400"/>
              <a:t>This report is generated by the “highschool-performance” project, available on GitHub: </a:t>
            </a:r>
            <a:r>
              <a:rPr sz="1400">
                <a:hlinkClick r:id="rId2"/>
              </a:rPr>
              <a:t>https://github.com/tommyarmstrong/highschool-performance</a:t>
            </a:r>
            <a:r>
              <a:rPr sz="1400"/>
              <a:t>.</a:t>
            </a:r>
            <a:endParaRPr sz="1400"/>
          </a:p>
          <a:p>
            <a:pPr marL="0" indent="0">
              <a:buNone/>
              <a:defRPr sz="1400"/>
            </a:pPr>
            <a:r>
              <a:rPr sz="1400"/>
              <a:t>The project is licensed under the </a:t>
            </a:r>
            <a:r>
              <a:rPr sz="1400">
                <a:hlinkClick r:id="rId3"/>
              </a:rPr>
              <a:t>MIT License</a:t>
            </a:r>
            <a:r>
              <a:rPr sz="1400"/>
              <a:t>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